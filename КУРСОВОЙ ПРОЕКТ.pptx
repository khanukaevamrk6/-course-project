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ru-RU" sz="2800" b="1" dirty="0">
                <a:solidFill>
                  <a:schemeClr val="tx1"/>
                </a:solidFill>
              </a:rPr>
              <a:t>КУРСОВОЙ ПРОЕКТ ПО КУРСУ “ИИ в ЦОС</a:t>
            </a:r>
            <a:r>
              <a:rPr lang="ru-RU" sz="2800" b="1" dirty="0" smtClean="0">
                <a:solidFill>
                  <a:schemeClr val="tx1"/>
                </a:solidFill>
              </a:rPr>
              <a:t>”</a:t>
            </a:r>
            <a:br>
              <a:rPr lang="ru-RU" sz="2800" b="1" dirty="0" smtClean="0">
                <a:solidFill>
                  <a:schemeClr val="tx1"/>
                </a:solidFill>
              </a:rPr>
            </a:br>
            <a:r>
              <a:rPr lang="ru-RU" sz="2800" b="1" dirty="0" smtClean="0">
                <a:solidFill>
                  <a:schemeClr val="tx1"/>
                </a:solidFill>
              </a:rPr>
              <a:t>на тему</a:t>
            </a:r>
            <a:r>
              <a:rPr lang="en-US" sz="2800" b="1" dirty="0" smtClean="0">
                <a:solidFill>
                  <a:schemeClr val="tx1"/>
                </a:solidFill>
              </a:rPr>
              <a:t>: </a:t>
            </a:r>
            <a:br>
              <a:rPr lang="en-US" sz="2800" b="1" dirty="0" smtClean="0">
                <a:solidFill>
                  <a:schemeClr val="tx1"/>
                </a:solidFill>
              </a:rPr>
            </a:br>
            <a:r>
              <a:rPr lang="en-US" sz="2800" b="1" dirty="0" smtClean="0">
                <a:solidFill>
                  <a:schemeClr val="tx1"/>
                </a:solidFill>
              </a:rPr>
              <a:t>“</a:t>
            </a:r>
            <a:r>
              <a:rPr lang="ru-RU" sz="2800" dirty="0" smtClean="0">
                <a:solidFill>
                  <a:schemeClr val="tx1"/>
                </a:solidFill>
              </a:rPr>
              <a:t>Классификация временных рядов с использованием взвешенного </a:t>
            </a:r>
            <a:r>
              <a:rPr lang="en-US" sz="2800" dirty="0" smtClean="0">
                <a:solidFill>
                  <a:schemeClr val="tx1"/>
                </a:solidFill>
              </a:rPr>
              <a:t>DTW”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Работу выполнил </a:t>
            </a:r>
            <a:r>
              <a:rPr lang="ru-RU" dirty="0" err="1" smtClean="0"/>
              <a:t>Ханукаев</a:t>
            </a:r>
            <a:r>
              <a:rPr lang="ru-RU" dirty="0" smtClean="0"/>
              <a:t> Алексей</a:t>
            </a:r>
          </a:p>
          <a:p>
            <a:r>
              <a:rPr lang="ru-RU" dirty="0" smtClean="0"/>
              <a:t>Группа РК6-41М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6329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Введение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/>
              <a:t>Временные ряды широко применяются в задачах анализа данных, распознавания образов, медицины, финансов и обработки сигналов. Одной из ключевых задач является определение степени сходства между двумя временными последовательностями. Для этого часто используется алгоритм </a:t>
            </a:r>
            <a:r>
              <a:rPr lang="ru-RU" dirty="0" err="1"/>
              <a:t>Dynamic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 </a:t>
            </a:r>
            <a:r>
              <a:rPr lang="ru-RU" dirty="0" err="1"/>
              <a:t>Warping</a:t>
            </a:r>
            <a:r>
              <a:rPr lang="ru-RU" dirty="0"/>
              <a:t> (DTW), позволяющий сопоставлять последовательности различной длины и учитывать локальные временные деформации</a:t>
            </a:r>
            <a:r>
              <a:rPr lang="ru-RU" dirty="0" smtClean="0"/>
              <a:t>.</a:t>
            </a:r>
          </a:p>
          <a:p>
            <a:pPr algn="just"/>
            <a:r>
              <a:rPr lang="ru-RU" dirty="0"/>
              <a:t>Главная проблема заключается в том, что алгоритм допускает слишком сильные деформации временной оси, что может приводить к ошибочным сопоставлениям и снижению точности классификации</a:t>
            </a:r>
            <a:r>
              <a:rPr lang="ru-RU" dirty="0" smtClean="0"/>
              <a:t>.</a:t>
            </a:r>
          </a:p>
          <a:p>
            <a:pPr algn="just"/>
            <a:r>
              <a:rPr lang="ru-RU" dirty="0" err="1"/>
              <a:t>Weighted</a:t>
            </a:r>
            <a:r>
              <a:rPr lang="ru-RU" dirty="0"/>
              <a:t> </a:t>
            </a:r>
            <a:r>
              <a:rPr lang="ru-RU" dirty="0" err="1"/>
              <a:t>Dynamic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 </a:t>
            </a:r>
            <a:r>
              <a:rPr lang="ru-RU" dirty="0" err="1"/>
              <a:t>Warping</a:t>
            </a:r>
            <a:r>
              <a:rPr lang="ru-RU" dirty="0"/>
              <a:t> (</a:t>
            </a:r>
            <a:r>
              <a:rPr lang="ru-RU" dirty="0" smtClean="0"/>
              <a:t>WDTW) вводит </a:t>
            </a:r>
            <a:r>
              <a:rPr lang="ru-RU" dirty="0"/>
              <a:t>система весов для штрафования чрезмерных временных </a:t>
            </a:r>
            <a:r>
              <a:rPr lang="ru-RU" dirty="0" smtClean="0"/>
              <a:t>смещений, что улучшает качество классификации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957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Алгоритм </a:t>
            </a:r>
            <a:r>
              <a:rPr lang="en-US" dirty="0" smtClean="0"/>
              <a:t>WDTW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 smtClean="0"/>
                  <a:t>Основой предложенного метода является классический DTW</a:t>
                </a:r>
                <a:r>
                  <a:rPr lang="ru-RU" dirty="0"/>
                  <a:t>,</a:t>
                </a:r>
                <a:r>
                  <a:rPr lang="ru-RU" dirty="0" smtClean="0"/>
                  <a:t> в котором расстояние </a:t>
                </a:r>
                <a:r>
                  <a:rPr lang="ru-RU" dirty="0"/>
                  <a:t>между временными рядами вычисляется через поиск оптимального пути выравнивания между двумя последовательностями</a:t>
                </a:r>
                <a:r>
                  <a:rPr lang="ru-RU" dirty="0" smtClean="0"/>
                  <a:t>.</a:t>
                </a:r>
              </a:p>
              <a:p>
                <a:r>
                  <a:rPr lang="ru-RU" dirty="0"/>
                  <a:t>В WDTW вводится дополнительная весовая </a:t>
                </a:r>
                <a:r>
                  <a:rPr lang="ru-RU" dirty="0" smtClean="0"/>
                  <a:t>функция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/>
                <a:r>
                  <a:rPr lang="ru-RU" dirty="0"/>
                  <a:t>Таким образом, небольшие локальные деформации допускаются, однако сильные растяжения временной оси начинают существенно увеличивать итоговую стоимость выравнивания.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" t="-94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502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Выполнение 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Для проведения экспериментов был использован </a:t>
            </a:r>
            <a:r>
              <a:rPr lang="ru-RU" dirty="0" err="1"/>
              <a:t>датасет</a:t>
            </a:r>
            <a:r>
              <a:rPr lang="ru-RU" dirty="0"/>
              <a:t> </a:t>
            </a:r>
            <a:r>
              <a:rPr lang="ru-RU" dirty="0" err="1"/>
              <a:t>BasicMotions</a:t>
            </a:r>
            <a:r>
              <a:rPr lang="ru-RU" dirty="0"/>
              <a:t>, содержащий многомерные временные ряды, полученные с акселерометра и гироскопа мобильного </a:t>
            </a:r>
            <a:r>
              <a:rPr lang="ru-RU" dirty="0" smtClean="0"/>
              <a:t>устройства</a:t>
            </a:r>
          </a:p>
          <a:p>
            <a:pPr algn="just"/>
            <a:r>
              <a:rPr lang="ru-RU" dirty="0"/>
              <a:t>Для реализации метода WDTW была разработана функция вычисления расстояния между двумя временными рядами на основе алгоритма </a:t>
            </a:r>
            <a:r>
              <a:rPr lang="ru-RU" dirty="0" err="1"/>
              <a:t>Dynamic</a:t>
            </a:r>
            <a:r>
              <a:rPr lang="ru-RU" dirty="0"/>
              <a:t> </a:t>
            </a:r>
            <a:r>
              <a:rPr lang="ru-RU" dirty="0" err="1"/>
              <a:t>Time</a:t>
            </a:r>
            <a:r>
              <a:rPr lang="ru-RU" dirty="0"/>
              <a:t> </a:t>
            </a:r>
            <a:r>
              <a:rPr lang="ru-RU" dirty="0" err="1"/>
              <a:t>Warping</a:t>
            </a:r>
            <a:r>
              <a:rPr lang="ru-RU" dirty="0"/>
              <a:t> с дополнительной весовой </a:t>
            </a:r>
            <a:r>
              <a:rPr lang="ru-RU" dirty="0" smtClean="0"/>
              <a:t>функцией</a:t>
            </a:r>
          </a:p>
          <a:p>
            <a:pPr algn="just"/>
            <a:r>
              <a:rPr lang="ru-RU" dirty="0"/>
              <a:t>Классификация выполнялась по принципу k ближайших соседей (k-NN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039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работы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качестве базового алгоритма использовался метод </a:t>
            </a:r>
            <a:r>
              <a:rPr lang="ru-RU" dirty="0" smtClean="0"/>
              <a:t>ROCKET</a:t>
            </a:r>
          </a:p>
          <a:p>
            <a:pPr algn="just"/>
            <a:r>
              <a:rPr lang="ru-RU" dirty="0"/>
              <a:t>После преобразования признаков выполнялось обучение линейного классификатора </a:t>
            </a:r>
            <a:r>
              <a:rPr lang="ru-RU" dirty="0" err="1"/>
              <a:t>RidgeClassifierCV</a:t>
            </a:r>
            <a:r>
              <a:rPr lang="ru-RU" dirty="0"/>
              <a:t>. Для эксперимента использовалось 10000 случайных </a:t>
            </a:r>
            <a:r>
              <a:rPr lang="ru-RU" dirty="0" smtClean="0"/>
              <a:t>ядер</a:t>
            </a:r>
          </a:p>
          <a:p>
            <a:pPr algn="just"/>
            <a:r>
              <a:rPr lang="ru-RU" dirty="0"/>
              <a:t>Для оценки качества классификации использовались </a:t>
            </a:r>
            <a:r>
              <a:rPr lang="ru-RU" dirty="0" smtClean="0"/>
              <a:t>показатели </a:t>
            </a:r>
            <a:r>
              <a:rPr lang="en-US" dirty="0" smtClean="0"/>
              <a:t>Accuracy</a:t>
            </a:r>
            <a:r>
              <a:rPr lang="ru-RU" dirty="0" smtClean="0"/>
              <a:t> и </a:t>
            </a:r>
            <a:r>
              <a:rPr lang="en-US" dirty="0"/>
              <a:t>Precision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4510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Сравнение результатов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812028"/>
            <a:ext cx="8596312" cy="3438525"/>
          </a:xfrm>
        </p:spPr>
      </p:pic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848517"/>
              </p:ext>
            </p:extLst>
          </p:nvPr>
        </p:nvGraphicFramePr>
        <p:xfrm>
          <a:off x="1146003" y="5270628"/>
          <a:ext cx="81279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13852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232453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96225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Метод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Точность (</a:t>
                      </a:r>
                      <a:r>
                        <a:rPr lang="en-US" dirty="0" smtClean="0"/>
                        <a:t>%</a:t>
                      </a:r>
                      <a:r>
                        <a:rPr lang="ru-RU" dirty="0" smtClean="0"/>
                        <a:t>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 (сек)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62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ROCKET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97.50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1.348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WDWT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30.282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853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2862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результатов 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817967"/>
            <a:ext cx="8596312" cy="3438525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301519"/>
              </p:ext>
            </p:extLst>
          </p:nvPr>
        </p:nvGraphicFramePr>
        <p:xfrm>
          <a:off x="1146003" y="5270628"/>
          <a:ext cx="8127999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138522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1232453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96225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Метод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 smtClean="0"/>
                        <a:t>Прецизионность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Время (сек)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624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ROCKET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0.</a:t>
                      </a:r>
                      <a:r>
                        <a:rPr lang="en-US" dirty="0" smtClean="0"/>
                        <a:t>9</a:t>
                      </a:r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1.348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1168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WDWT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r>
                        <a:rPr lang="ru-RU" dirty="0" smtClean="0"/>
                        <a:t>.</a:t>
                      </a:r>
                      <a:r>
                        <a:rPr lang="en-US" dirty="0" smtClean="0"/>
                        <a:t>00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30.282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8537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8421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dirty="0"/>
              <a:t>Проведённое исследование показало, что оба алгоритма являются эффективными средствами классификации временных </a:t>
            </a:r>
            <a:r>
              <a:rPr lang="ru-RU" dirty="0" smtClean="0"/>
              <a:t>рядов</a:t>
            </a:r>
          </a:p>
          <a:p>
            <a:pPr algn="just"/>
            <a:r>
              <a:rPr lang="ru-RU" dirty="0"/>
              <a:t>WDTW обеспечивает высокое качество классификации и хорошо подходит для небольших наборов данных, однако требует значительных вычислительных </a:t>
            </a:r>
            <a:r>
              <a:rPr lang="ru-RU" dirty="0" smtClean="0"/>
              <a:t>затрат</a:t>
            </a:r>
          </a:p>
          <a:p>
            <a:pPr algn="just"/>
            <a:r>
              <a:rPr lang="ru-RU" dirty="0" smtClean="0"/>
              <a:t>ROCKET обеспечивает приемлемое </a:t>
            </a:r>
            <a:r>
              <a:rPr lang="ru-RU" dirty="0"/>
              <a:t>качество классификации при существенно меньших временных </a:t>
            </a:r>
            <a:r>
              <a:rPr lang="ru-RU" dirty="0" smtClean="0"/>
              <a:t>затратах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949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68924" y="2877787"/>
            <a:ext cx="8596668" cy="1320800"/>
          </a:xfrm>
        </p:spPr>
        <p:txBody>
          <a:bodyPr/>
          <a:lstStyle/>
          <a:p>
            <a:pPr algn="ctr"/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381827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33</TotalTime>
  <Words>318</Words>
  <Application>Microsoft Office PowerPoint</Application>
  <PresentationFormat>Широкоэкранный</PresentationFormat>
  <Paragraphs>45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Trebuchet MS</vt:lpstr>
      <vt:lpstr>Wingdings 3</vt:lpstr>
      <vt:lpstr>Аспект</vt:lpstr>
      <vt:lpstr>КУРСОВОЙ ПРОЕКТ ПО КУРСУ “ИИ в ЦОС” на тему:  “Классификация временных рядов с использованием взвешенного DTW”</vt:lpstr>
      <vt:lpstr>Введение</vt:lpstr>
      <vt:lpstr>Алгоритм WDTW</vt:lpstr>
      <vt:lpstr>Выполнение работы</vt:lpstr>
      <vt:lpstr>Выполнение работы</vt:lpstr>
      <vt:lpstr>Сравнение результатов </vt:lpstr>
      <vt:lpstr>Сравнение результатов </vt:lpstr>
      <vt:lpstr>Выводы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КУРСОВОЙ ПРОЕКТ ПО КУРСУ “ИИ в ЦОС” на тему:  “Классификация временных рядов с использованием взвешенного DTW”</dc:title>
  <dc:creator>Алексей Хан</dc:creator>
  <cp:lastModifiedBy>Алексей Хан</cp:lastModifiedBy>
  <cp:revision>4</cp:revision>
  <dcterms:created xsi:type="dcterms:W3CDTF">2026-06-03T03:52:54Z</dcterms:created>
  <dcterms:modified xsi:type="dcterms:W3CDTF">2026-06-03T04:26:41Z</dcterms:modified>
</cp:coreProperties>
</file>